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58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FCFA4-8772-4C00-91D9-4ACB8000C513}" v="11" dt="2025-07-14T06:06:26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A1FF-376E-2F4B-4C63-AE0389807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806448"/>
          </a:xfrm>
        </p:spPr>
        <p:txBody>
          <a:bodyPr>
            <a:normAutofit/>
          </a:bodyPr>
          <a:lstStyle/>
          <a:p>
            <a:r>
              <a:rPr lang="en-US" sz="3200" b="1" dirty="0"/>
              <a:t>Optimizing CNN performance using RISC-V Custom Instructions Set for Edge AI inference Applications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D0C0A-F0EA-4328-863F-E7CFF9856B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Aila tej rithvik- 244102401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2474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4A33E-AF66-EC21-E57D-8EFB58AD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Architecture of Co-Processor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D7680-6B31-28B5-4674-6D0CBCAEA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F79423-730E-98FC-1968-96594059442A}"/>
              </a:ext>
            </a:extLst>
          </p:cNvPr>
          <p:cNvSpPr/>
          <p:nvPr/>
        </p:nvSpPr>
        <p:spPr>
          <a:xfrm>
            <a:off x="5054600" y="2413000"/>
            <a:ext cx="592667" cy="50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62B865-10A4-623A-7B4E-FE1BD57894F2}"/>
              </a:ext>
            </a:extLst>
          </p:cNvPr>
          <p:cNvSpPr/>
          <p:nvPr/>
        </p:nvSpPr>
        <p:spPr>
          <a:xfrm>
            <a:off x="5054600" y="3302001"/>
            <a:ext cx="592667" cy="50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832DCF-B623-F85E-2217-AF09665D51D8}"/>
              </a:ext>
            </a:extLst>
          </p:cNvPr>
          <p:cNvSpPr/>
          <p:nvPr/>
        </p:nvSpPr>
        <p:spPr>
          <a:xfrm>
            <a:off x="5054599" y="4191002"/>
            <a:ext cx="592667" cy="50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A88400-91CD-4DE5-4108-D4709DC9C905}"/>
              </a:ext>
            </a:extLst>
          </p:cNvPr>
          <p:cNvSpPr/>
          <p:nvPr/>
        </p:nvSpPr>
        <p:spPr>
          <a:xfrm>
            <a:off x="5054599" y="5080003"/>
            <a:ext cx="592667" cy="50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188E2F-2E8D-01E0-0913-F15613E23B4C}"/>
              </a:ext>
            </a:extLst>
          </p:cNvPr>
          <p:cNvSpPr/>
          <p:nvPr/>
        </p:nvSpPr>
        <p:spPr>
          <a:xfrm>
            <a:off x="8288867" y="4336628"/>
            <a:ext cx="1574800" cy="15409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Address Calculation</a:t>
            </a:r>
          </a:p>
          <a:p>
            <a:pPr algn="ctr"/>
            <a:r>
              <a:rPr lang="en-US" dirty="0"/>
              <a:t>Unit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0F71CB-BC79-428B-1289-08E6447C62EC}"/>
              </a:ext>
            </a:extLst>
          </p:cNvPr>
          <p:cNvSpPr/>
          <p:nvPr/>
        </p:nvSpPr>
        <p:spPr>
          <a:xfrm>
            <a:off x="6316133" y="2768600"/>
            <a:ext cx="414867" cy="4216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786778A-99F1-94A9-7CF8-23437E1AA7BA}"/>
              </a:ext>
            </a:extLst>
          </p:cNvPr>
          <p:cNvSpPr/>
          <p:nvPr/>
        </p:nvSpPr>
        <p:spPr>
          <a:xfrm>
            <a:off x="6316132" y="4445002"/>
            <a:ext cx="414867" cy="4216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2E964C-6AAF-11F2-EC52-88A58D01E6A8}"/>
              </a:ext>
            </a:extLst>
          </p:cNvPr>
          <p:cNvSpPr/>
          <p:nvPr/>
        </p:nvSpPr>
        <p:spPr>
          <a:xfrm>
            <a:off x="7281333" y="3599180"/>
            <a:ext cx="414867" cy="42164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46F2CB-EA38-2DD6-42BC-3DA78BDEA853}"/>
              </a:ext>
            </a:extLst>
          </p:cNvPr>
          <p:cNvCxnSpPr>
            <a:stCxn id="4" idx="3"/>
            <a:endCxn id="10" idx="2"/>
          </p:cNvCxnSpPr>
          <p:nvPr/>
        </p:nvCxnSpPr>
        <p:spPr>
          <a:xfrm>
            <a:off x="5647267" y="2667000"/>
            <a:ext cx="668866" cy="312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E36763-78CD-8404-2D57-AC839F8012A1}"/>
              </a:ext>
            </a:extLst>
          </p:cNvPr>
          <p:cNvCxnSpPr/>
          <p:nvPr/>
        </p:nvCxnSpPr>
        <p:spPr>
          <a:xfrm flipV="1">
            <a:off x="5757333" y="3190241"/>
            <a:ext cx="48260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30DA97-2A65-F58E-0935-F935022AFBEB}"/>
              </a:ext>
            </a:extLst>
          </p:cNvPr>
          <p:cNvCxnSpPr/>
          <p:nvPr/>
        </p:nvCxnSpPr>
        <p:spPr>
          <a:xfrm>
            <a:off x="5757333" y="4336628"/>
            <a:ext cx="482600" cy="201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B8CBA3-EA62-FEFA-F8DB-EAD2C9F19270}"/>
              </a:ext>
            </a:extLst>
          </p:cNvPr>
          <p:cNvCxnSpPr/>
          <p:nvPr/>
        </p:nvCxnSpPr>
        <p:spPr>
          <a:xfrm flipV="1">
            <a:off x="5757333" y="4866643"/>
            <a:ext cx="558799" cy="35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E69969-B2FD-9914-E286-4F27F8F8EB23}"/>
              </a:ext>
            </a:extLst>
          </p:cNvPr>
          <p:cNvCxnSpPr/>
          <p:nvPr/>
        </p:nvCxnSpPr>
        <p:spPr>
          <a:xfrm>
            <a:off x="6730999" y="3190241"/>
            <a:ext cx="550334" cy="408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0DF62C-8025-CBBC-5C31-78A95E260286}"/>
              </a:ext>
            </a:extLst>
          </p:cNvPr>
          <p:cNvCxnSpPr/>
          <p:nvPr/>
        </p:nvCxnSpPr>
        <p:spPr>
          <a:xfrm flipV="1">
            <a:off x="6824133" y="4089400"/>
            <a:ext cx="457200" cy="355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98FFAC-BDEF-2FDD-C491-E6AA319A452F}"/>
              </a:ext>
            </a:extLst>
          </p:cNvPr>
          <p:cNvCxnSpPr>
            <a:cxnSpLocks/>
          </p:cNvCxnSpPr>
          <p:nvPr/>
        </p:nvCxnSpPr>
        <p:spPr>
          <a:xfrm>
            <a:off x="7831667" y="3750733"/>
            <a:ext cx="279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A79B6D-D39F-7426-190E-E3D498390AE5}"/>
              </a:ext>
            </a:extLst>
          </p:cNvPr>
          <p:cNvCxnSpPr/>
          <p:nvPr/>
        </p:nvCxnSpPr>
        <p:spPr>
          <a:xfrm>
            <a:off x="10024533" y="5080003"/>
            <a:ext cx="601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C2AC70C6-3785-8DA9-9EB6-64678083764A}"/>
              </a:ext>
            </a:extLst>
          </p:cNvPr>
          <p:cNvSpPr/>
          <p:nvPr/>
        </p:nvSpPr>
        <p:spPr>
          <a:xfrm>
            <a:off x="2438400" y="3190241"/>
            <a:ext cx="1049866" cy="13478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Buffer</a:t>
            </a:r>
            <a:endParaRPr lang="en-IN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606CA37A-E0D9-BA80-5002-494BC30DC1E3}"/>
              </a:ext>
            </a:extLst>
          </p:cNvPr>
          <p:cNvCxnSpPr>
            <a:endCxn id="4" idx="1"/>
          </p:cNvCxnSpPr>
          <p:nvPr/>
        </p:nvCxnSpPr>
        <p:spPr>
          <a:xfrm flipV="1">
            <a:off x="3581400" y="2667000"/>
            <a:ext cx="1473200" cy="9321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2C18B3C-43ED-F32F-94AB-4190236C6FF7}"/>
              </a:ext>
            </a:extLst>
          </p:cNvPr>
          <p:cNvCxnSpPr/>
          <p:nvPr/>
        </p:nvCxnSpPr>
        <p:spPr>
          <a:xfrm>
            <a:off x="3581400" y="3810000"/>
            <a:ext cx="1312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C8004E9-D6A2-7DBD-0772-697C3A928234}"/>
              </a:ext>
            </a:extLst>
          </p:cNvPr>
          <p:cNvCxnSpPr/>
          <p:nvPr/>
        </p:nvCxnSpPr>
        <p:spPr>
          <a:xfrm>
            <a:off x="3581400" y="4089400"/>
            <a:ext cx="1312333" cy="3479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EEA6632-F4AF-69D9-D32A-FC2FE3CFE668}"/>
              </a:ext>
            </a:extLst>
          </p:cNvPr>
          <p:cNvCxnSpPr/>
          <p:nvPr/>
        </p:nvCxnSpPr>
        <p:spPr>
          <a:xfrm>
            <a:off x="3581400" y="4336628"/>
            <a:ext cx="1227667" cy="9973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971A1C-CFF3-9B56-C440-7EB61B336F5A}"/>
              </a:ext>
            </a:extLst>
          </p:cNvPr>
          <p:cNvCxnSpPr>
            <a:cxnSpLocks/>
          </p:cNvCxnSpPr>
          <p:nvPr/>
        </p:nvCxnSpPr>
        <p:spPr>
          <a:xfrm>
            <a:off x="1448441" y="3783846"/>
            <a:ext cx="6908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CC28DBC5-5AB3-70BF-5641-FEC9F7725E95}"/>
              </a:ext>
            </a:extLst>
          </p:cNvPr>
          <p:cNvCxnSpPr/>
          <p:nvPr/>
        </p:nvCxnSpPr>
        <p:spPr>
          <a:xfrm flipV="1">
            <a:off x="1202267" y="5869094"/>
            <a:ext cx="6908800" cy="829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93B0AC5-60E8-71C6-9844-CBDEBF971F34}"/>
              </a:ext>
            </a:extLst>
          </p:cNvPr>
          <p:cNvSpPr txBox="1"/>
          <p:nvPr/>
        </p:nvSpPr>
        <p:spPr>
          <a:xfrm>
            <a:off x="8990958" y="3414514"/>
            <a:ext cx="1293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data</a:t>
            </a:r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7EF5F3-466F-D4AA-5F0A-E41BBFF6843B}"/>
              </a:ext>
            </a:extLst>
          </p:cNvPr>
          <p:cNvSpPr txBox="1"/>
          <p:nvPr/>
        </p:nvSpPr>
        <p:spPr>
          <a:xfrm>
            <a:off x="1175582" y="3956381"/>
            <a:ext cx="115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data</a:t>
            </a: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A59DD3-E15E-E422-27BE-A46F7764407B}"/>
              </a:ext>
            </a:extLst>
          </p:cNvPr>
          <p:cNvSpPr txBox="1"/>
          <p:nvPr/>
        </p:nvSpPr>
        <p:spPr>
          <a:xfrm>
            <a:off x="1097280" y="5490541"/>
            <a:ext cx="1717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Starting Address</a:t>
            </a:r>
            <a:endParaRPr lang="en-I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7341FD-3139-D14B-D760-FD6F5035C2A4}"/>
              </a:ext>
            </a:extLst>
          </p:cNvPr>
          <p:cNvSpPr txBox="1"/>
          <p:nvPr/>
        </p:nvSpPr>
        <p:spPr>
          <a:xfrm>
            <a:off x="9941969" y="4647355"/>
            <a:ext cx="1306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out</a:t>
            </a:r>
            <a:endParaRPr lang="en-IN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9630AA5-2653-CE61-466F-A8A85BD780AA}"/>
              </a:ext>
            </a:extLst>
          </p:cNvPr>
          <p:cNvSpPr/>
          <p:nvPr/>
        </p:nvSpPr>
        <p:spPr>
          <a:xfrm>
            <a:off x="2624666" y="1845734"/>
            <a:ext cx="1100667" cy="5672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  <a:endParaRPr lang="en-IN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2591EF5-AD74-87C6-F8D9-502E72DE25C8}"/>
              </a:ext>
            </a:extLst>
          </p:cNvPr>
          <p:cNvCxnSpPr/>
          <p:nvPr/>
        </p:nvCxnSpPr>
        <p:spPr>
          <a:xfrm>
            <a:off x="1097280" y="2108200"/>
            <a:ext cx="1341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24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5CC0-FE94-8287-48AF-B137BD61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Processing Element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836BA-9C35-485E-BB2D-222F6D25E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813" y="1823720"/>
            <a:ext cx="10058400" cy="4023360"/>
          </a:xfrm>
        </p:spPr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F88FCE-FF96-9DAB-CAFE-DD857EC037A5}"/>
              </a:ext>
            </a:extLst>
          </p:cNvPr>
          <p:cNvSpPr/>
          <p:nvPr/>
        </p:nvSpPr>
        <p:spPr>
          <a:xfrm>
            <a:off x="2506134" y="2209800"/>
            <a:ext cx="1972733" cy="13123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Reg. </a:t>
            </a:r>
          </a:p>
          <a:p>
            <a:pPr algn="ctr"/>
            <a:r>
              <a:rPr lang="en-US" dirty="0"/>
              <a:t>(8x3x4)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879CD1-905B-192B-7EBE-B2EEB355F898}"/>
              </a:ext>
            </a:extLst>
          </p:cNvPr>
          <p:cNvSpPr/>
          <p:nvPr/>
        </p:nvSpPr>
        <p:spPr>
          <a:xfrm>
            <a:off x="2506134" y="3987800"/>
            <a:ext cx="1972733" cy="14139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Filter Reg.          (3x3x4)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47E6E8-15D0-BB3F-4961-4CAB3BE18A9A}"/>
              </a:ext>
            </a:extLst>
          </p:cNvPr>
          <p:cNvSpPr/>
          <p:nvPr/>
        </p:nvSpPr>
        <p:spPr>
          <a:xfrm>
            <a:off x="5444067" y="2269067"/>
            <a:ext cx="1888066" cy="31326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MAC  Tree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FB7CB5-A03C-E1AA-B600-C80328167A2B}"/>
              </a:ext>
            </a:extLst>
          </p:cNvPr>
          <p:cNvCxnSpPr/>
          <p:nvPr/>
        </p:nvCxnSpPr>
        <p:spPr>
          <a:xfrm>
            <a:off x="4588933" y="2844800"/>
            <a:ext cx="7027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308FC8-B49D-B475-4F64-3DEEF6E7F3CC}"/>
              </a:ext>
            </a:extLst>
          </p:cNvPr>
          <p:cNvCxnSpPr/>
          <p:nvPr/>
        </p:nvCxnSpPr>
        <p:spPr>
          <a:xfrm>
            <a:off x="4588933" y="4631267"/>
            <a:ext cx="7027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1645FC-36CE-9717-F740-E2116028A40E}"/>
              </a:ext>
            </a:extLst>
          </p:cNvPr>
          <p:cNvCxnSpPr/>
          <p:nvPr/>
        </p:nvCxnSpPr>
        <p:spPr>
          <a:xfrm>
            <a:off x="7476067" y="3886200"/>
            <a:ext cx="1490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C539F5E-CABC-8EFD-60CC-9710662BE2CD}"/>
              </a:ext>
            </a:extLst>
          </p:cNvPr>
          <p:cNvSpPr/>
          <p:nvPr/>
        </p:nvSpPr>
        <p:spPr>
          <a:xfrm>
            <a:off x="2040467" y="1921933"/>
            <a:ext cx="7154333" cy="39251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24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07989-89CE-090F-CA40-45CB6AB4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Instruction sets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6EF13-63F0-D663-DA73-87A59698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Load Weights/Filters ( bunching together multiple filters and multiple channels)</a:t>
            </a:r>
          </a:p>
          <a:p>
            <a:pPr marL="0" indent="0">
              <a:buNone/>
            </a:pPr>
            <a:r>
              <a:rPr lang="en-US" dirty="0"/>
              <a:t>2. Convolution Instruction</a:t>
            </a:r>
          </a:p>
          <a:p>
            <a:pPr marL="0" indent="0">
              <a:buNone/>
            </a:pPr>
            <a:r>
              <a:rPr lang="en-US" dirty="0"/>
              <a:t>         ( loading data + performing Convolution + adding channels + write back)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   Load and Store operations are done on alternative Clock cycles / interleaved way.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   Each PE handles a separate input channel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   Each PE holds multiple filters and calculates output for one filter in one clock-cycle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321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51C60-83A1-02B2-1C77-6ACD3D80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6A38-C76A-E976-9F25-09B2C6F5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Image and Filter sizes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BAF4A-DE7B-B7BE-E0FE-C7D99FF21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 Image Size -   8x8 , 4 channels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 size  -               3x3, 4 channels , 4 Filters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 Image Size – 6x6, 4 channels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u="sng" dirty="0"/>
              <a:t>Clock cycles Required </a:t>
            </a:r>
          </a:p>
          <a:p>
            <a:pPr marL="0" indent="0">
              <a:buNone/>
            </a:pPr>
            <a:r>
              <a:rPr lang="en-US" dirty="0"/>
              <a:t>      Baseline Processor  ~ 70,000</a:t>
            </a:r>
          </a:p>
          <a:p>
            <a:pPr marL="0" indent="0">
              <a:buNone/>
            </a:pPr>
            <a:r>
              <a:rPr lang="en-US" dirty="0"/>
              <a:t>      Custom Hardware  ~  600 - 700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6093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B756-40FD-CF9D-1F27-0917236A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Future Work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AFFFD-52A5-81B4-9C7F-9E1A81B43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Channels in Parallel – less Store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Filters in Parallel – Less Load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Parallelism/ more PEs, more on chip memory, better the energy efficiency </a:t>
            </a:r>
          </a:p>
          <a:p>
            <a:pPr marL="0" indent="0">
              <a:buNone/>
            </a:pPr>
            <a:r>
              <a:rPr lang="en-US" dirty="0"/>
              <a:t>      (less Load-Store Operations from External Memory)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SRAM based cache blocks instead of Registers/Flipflops.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techniques like Layer Fusion ( with Max-pooling).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 – Gating Registers, Low </a:t>
            </a:r>
            <a:r>
              <a:rPr lang="en-US"/>
              <a:t>power Filp-flops.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52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0651C-65A3-CA45-9053-402BA9A6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46E9-2EE5-BFEA-9AC5-F7E3631C4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Image and Filter sizes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5F1C1-9842-389C-65A3-0314AB197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2632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1480</TotalTime>
  <Words>253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Retrospect</vt:lpstr>
      <vt:lpstr>Optimizing CNN performance using RISC-V Custom Instructions Set for Edge AI inference Applications</vt:lpstr>
      <vt:lpstr>Architecture of Co-Processor</vt:lpstr>
      <vt:lpstr>Processing Element</vt:lpstr>
      <vt:lpstr>Instruction sets</vt:lpstr>
      <vt:lpstr>Image and Filter sizes</vt:lpstr>
      <vt:lpstr>Future Work</vt:lpstr>
      <vt:lpstr>Image and Filter sizes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 rithvik</dc:creator>
  <cp:lastModifiedBy>tej rithvik</cp:lastModifiedBy>
  <cp:revision>2</cp:revision>
  <dcterms:created xsi:type="dcterms:W3CDTF">2025-07-13T06:38:06Z</dcterms:created>
  <dcterms:modified xsi:type="dcterms:W3CDTF">2025-09-01T05:11:57Z</dcterms:modified>
</cp:coreProperties>
</file>